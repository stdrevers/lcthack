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Вес, %</c:v>
                </c:pt>
              </c:strCache>
            </c:strRef>
          </c:tx>
          <c:spPr>
            <a:solidFill>
              <a:srgbClr val="2F5D7C"/>
            </a:solidFill>
          </c:spPr>
          <c:cat>
            <c:strRef>
              <c:f>Sheet1!$A$2:$A$6</c:f>
              <c:strCache>
                <c:ptCount val="5"/>
                <c:pt idx="0">
                  <c:v>Доступность поставки</c:v>
                </c:pt>
                <c:pt idx="1">
                  <c:v>Полнота и достоверность данных</c:v>
                </c:pt>
                <c:pt idx="2">
                  <c:v>Соответствие объекту</c:v>
                </c:pt>
                <c:pt idx="3">
                  <c:v>Производительность</c:v>
                </c:pt>
                <c:pt idx="4">
                  <c:v>Экономика (окупаемость)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10</c:v>
                </c:pt>
                <c:pt idx="2">
                  <c:v>20</c:v>
                </c:pt>
                <c:pt idx="3">
                  <c:v>25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CE1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2A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оборудования</c:v>
                </c:pt>
              </c:strCache>
            </c:strRef>
          </c:tx>
          <c:spPr>
            <a:ln w="31750">
              <a:solidFill>
                <a:srgbClr val="2F5D7C"/>
              </a:solidFill>
            </a:ln>
          </c:spPr>
          <c:marker>
            <c:spPr>
              <a:solidFill>
                <a:srgbClr val="2F5D7C"/>
              </a:solidFill>
              <a:ln>
                <a:solidFill>
                  <a:srgbClr val="2F5D7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−20 %</c:v>
                </c:pt>
                <c:pt idx="1">
                  <c:v>−10 %</c:v>
                </c:pt>
                <c:pt idx="2">
                  <c:v>Расчёт</c:v>
                </c:pt>
                <c:pt idx="3">
                  <c:v>+10 %</c:v>
                </c:pt>
                <c:pt idx="4">
                  <c:v>+20 %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3.59</c:v>
                </c:pt>
                <c:pt idx="1">
                  <c:v>3.98</c:v>
                </c:pt>
                <c:pt idx="2">
                  <c:v>4.38</c:v>
                </c:pt>
                <c:pt idx="3">
                  <c:v>4.77</c:v>
                </c:pt>
                <c:pt idx="4">
                  <c:v>5.16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Объём операций</c:v>
                </c:pt>
              </c:strCache>
            </c:strRef>
          </c:tx>
          <c:spPr>
            <a:ln w="31750">
              <a:solidFill>
                <a:srgbClr val="B5628A"/>
              </a:solidFill>
            </a:ln>
          </c:spPr>
          <c:marker>
            <c:spPr>
              <a:solidFill>
                <a:srgbClr val="B5628A"/>
              </a:solidFill>
              <a:ln>
                <a:solidFill>
                  <a:srgbClr val="B5628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−20 %</c:v>
                </c:pt>
                <c:pt idx="1">
                  <c:v>−10 %</c:v>
                </c:pt>
                <c:pt idx="2">
                  <c:v>Расчёт</c:v>
                </c:pt>
                <c:pt idx="3">
                  <c:v>+10 %</c:v>
                </c:pt>
                <c:pt idx="4">
                  <c:v>+20 %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4.13</c:v>
                </c:pt>
                <c:pt idx="1">
                  <c:v>4.68</c:v>
                </c:pt>
                <c:pt idx="2">
                  <c:v>4.38</c:v>
                </c:pt>
                <c:pt idx="3">
                  <c:v>4.16</c:v>
                </c:pt>
                <c:pt idx="4">
                  <c:v>3.96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Стоимость труда</c:v>
                </c:pt>
              </c:strCache>
            </c:strRef>
          </c:tx>
          <c:spPr>
            <a:ln w="31750">
              <a:solidFill>
                <a:srgbClr val="6E7B2E"/>
              </a:solidFill>
            </a:ln>
          </c:spPr>
          <c:marker>
            <c:spPr>
              <a:solidFill>
                <a:srgbClr val="6E7B2E"/>
              </a:solidFill>
              <a:ln>
                <a:solidFill>
                  <a:srgbClr val="6E7B2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−20 %</c:v>
                </c:pt>
                <c:pt idx="1">
                  <c:v>−10 %</c:v>
                </c:pt>
                <c:pt idx="2">
                  <c:v>Расчёт</c:v>
                </c:pt>
                <c:pt idx="3">
                  <c:v>+10 %</c:v>
                </c:pt>
                <c:pt idx="4">
                  <c:v>+20 %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5.06</c:v>
                </c:pt>
                <c:pt idx="2">
                  <c:v>4.38</c:v>
                </c:pt>
                <c:pt idx="3">
                  <c:v>3.85</c:v>
                </c:pt>
                <c:pt idx="4">
                  <c:v>3.44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1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5"/>
          <c:min val="3.0"/>
        </c:scaling>
        <c:delete val="0"/>
        <c:axPos val="l"/>
        <c:majorGridlines>
          <c:spPr>
            <a:ln>
              <a:solidFill>
                <a:srgbClr val="D5DCE1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1E2A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РобоПодбор. Наша платформа помогает за один сеанс оценить, стоит ли роботизировать объект: подобрать роботов, посчитать экономику трёх сценариев и проверить расчёт на 2D-модели.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ТЗ названы два барьера: нет единого независимого источника данных о роботизированных решениях, и нельзя быстро оценить их применимость и эффект для конкретного объекта. Мы закрываем оба в одном пользовательском сценарии: каталог, подбор, экономика и имитация.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Аудитория взята из ТЗ: от руководителей предприятий до аналитиков, которые готовят обоснование. Каждый получает свой ответ — окупаемость, применимость, число роботов или формулы, и всё это без программирования.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Путь повторяет п. 2.2 ТЗ: восемь шагов от выбора объекта до экспорта. Гость проходит его без регистрации, а пользователь сохраняет проект и историю расчётов с версиями модели 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Архитектура — модульный монолит: один сервис API и отдельная библиотека расчёта без внешних зависимостей. Честно о состоянии: демо целиком работает в браузере на мок-сервере, а серверная часть пока каркас — на схеме она пунктиром.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разделены на каталог, справочник типов объектов и нормативы; у каждой записи есть источник и признак подтверждённости. Каждый расчёт хранит версии данных, модели и симуляции, поэтому его можно воспроизвести. Важная оговорка: каталог пока демонстрационный — данные организатора ещё не загружены.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Подбор идёт в два этапа. Критичные проверки — грузоподъёмность, ширина прохода и производительность — определяют статус: не подходит, требует проверки или рекомендовано. Остальных роботов ранжирует балл из пяти факторов с весами, и пользователь видит вклад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Экономика считает три сценария из ТЗ: без роботов, покупку и роботов как услугу, по восьми показателям п. 3.5.2. ROI считается строго по ТЗ — накопленный эффект к капзатратам. Любой показатель открывается с формулой, исходными данными и источником.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Чувствительность показывает, как меняется срок окупаемости при отклонении трёх параметров на 10 и 20 процентов; для демо-склада сильнее всего влияет стоимость труда. На шаге what-if можно поменять девять допущений и сравнить результат с исходным, не трогая проект.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Симуляция не рисует красивую анимацию ради анимации — она берёт из расчёта число роботов и пиковую потребность и проверяет, справится ли парк. Расчётные 15 роботов выполняют 95 процентов цели — расчёт подтверждён, а 8 роботов дают 81 процент, и система предлагает добавить роботов.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демо-складе расчёт даёт 15 роботов. Покупка стоит 70 миллионов, окупается за 4,4 года, ROI за пять лет — 114 процентов. Аренда требует 1,5 миллиона на внедрение и окупается за 2,1 года при ROI 236 процентов, но годовой эффект у неё примерно в 22 раза меньше. Подчеркну: каталог демонстрационный, это проверка работы модели, а не рекомендация к закупке.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честно разделяем прототип и продукт. Сейчас демо работает в браузере на моках, бэкенд — каркас, каталог вымышленный, Excel и импорт каталога не сделаны. В модели нет амортизации, а симуляция доступна только для склада.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п. 5.7 мы разметили 44 функции: 14 реализованы полностью, 24 частично, 2 представлены прототипом и 4 не реализованы. Полная таблица с причинами и планом — в документе ограничений.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— бэкенд по уже готовому контракту и перенос формул в серверное ядро. Затем данные организатора, доработка экономики по ТЗ и расширение симуляции на аэропорт и больницу.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AEB9C2"/>
                </a:solidFill>
                <a:latin typeface="Arial"/>
              </a:rPr>
              <a:t>ХАКАТОН ФЦ БАС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5400" b="1" i="0">
                <a:solidFill>
                  <a:srgbClr val="FFFFFF"/>
                </a:solidFill>
                <a:latin typeface="Arial"/>
              </a:rPr>
              <a:t>РобоПодбор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658368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DDE3E8"/>
                </a:solidFill>
                <a:latin typeface="Arial"/>
              </a:rPr>
              <a:t>Платформа подбора роботизированных решений с расчётом экономического эффекта и визуализацией работы роботов на объекте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60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AEB9C2"/>
                </a:solidFill>
                <a:latin typeface="Arial"/>
              </a:rPr>
              <a:t>КОМАНДА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Амир</a:t>
            </a:r>
            <a:r>
              <a:rPr sz="1600" b="0" i="0">
                <a:solidFill>
                  <a:srgbClr val="FFFFFF"/>
                </a:solidFill>
                <a:latin typeface="Arial"/>
              </a:rPr>
              <a:t> — фронтенд, расчётное ядро, документация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Ермолай</a:t>
            </a:r>
            <a:r>
              <a:rPr sz="1600" b="0" i="0">
                <a:solidFill>
                  <a:srgbClr val="FFFFFF"/>
                </a:solidFill>
                <a:latin typeface="Arial"/>
              </a:rPr>
              <a:t> — бэкенд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1234440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04504" y="123444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123444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11512" y="1234440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15016" y="123444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018520" y="123444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837944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04504" y="1837944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08008" y="1837944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11512" y="1837944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415016" y="1837944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018520" y="1837944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2441448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04504" y="2441448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2441448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11512" y="2441448"/>
            <a:ext cx="475488" cy="47548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15016" y="2441448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018520" y="2441448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0" y="3044952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04504" y="3044952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08008" y="3044952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11512" y="3044952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415016" y="3044952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018520" y="3044952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1000" y="3648456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04504" y="3648456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08008" y="3648456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11512" y="3648456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415016" y="3648456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018520" y="3648456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25196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04504" y="4251960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08008" y="425196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1512" y="425196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415016" y="4251960"/>
            <a:ext cx="475488" cy="475488"/>
          </a:xfrm>
          <a:prstGeom prst="rect">
            <a:avLst/>
          </a:prstGeom>
          <a:solidFill>
            <a:srgbClr val="2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018520" y="4251960"/>
            <a:ext cx="475488" cy="475488"/>
          </a:xfrm>
          <a:prstGeom prst="rect">
            <a:avLst/>
          </a:prstGeom>
          <a:solidFill>
            <a:srgbClr val="3A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AEB9C2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AEB9C2"/>
                </a:solidFill>
                <a:latin typeface="Arial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02 · 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Два барьера на пути к роботизации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64327" cy="27432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011680"/>
            <a:ext cx="502920" cy="50292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92807"/>
            <a:ext cx="4084167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1E2A33"/>
                </a:solidFill>
                <a:latin typeface="Arial"/>
              </a:rPr>
              <a:t>Нет единого источника данных о решениях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724247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Сведения о продуктах, характеристиках и ценах разрознены</a:t>
            </a:r>
          </a:p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Часто их публикуют сами вендоры</a:t>
            </a:r>
          </a:p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Сопоставление требует отдельного исследования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91640"/>
            <a:ext cx="5364327" cy="27432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98767" y="2011680"/>
            <a:ext cx="502920" cy="50292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4567" y="1892807"/>
            <a:ext cx="4084167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1E2A33"/>
                </a:solidFill>
                <a:latin typeface="Arial"/>
              </a:rPr>
              <a:t>Нельзя быстро оценить применимость и эффект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788920"/>
            <a:ext cx="4724247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Сколько нужно оборудования и инфраструктуры</a:t>
            </a:r>
          </a:p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Каковы CAPEX, OPEX и срок окупаемости</a:t>
            </a:r>
          </a:p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Нужна дорогая предварительная проработка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091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E6EDF2"/>
          </a:solidFill>
          <a:ln w="9525">
            <a:solidFill>
              <a:srgbClr val="E6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4632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Итог: </a:t>
            </a:r>
            <a:r>
              <a:rPr sz="1600" b="0" i="0">
                <a:solidFill>
                  <a:srgbClr val="1E2A33"/>
                </a:solidFill>
                <a:latin typeface="Arial"/>
              </a:rPr>
              <a:t>инвестиционные решения откладываются или принимаются на неполных данных.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Наш ответ: </a:t>
            </a:r>
            <a:r>
              <a:rPr sz="1600" b="0" i="0">
                <a:solidFill>
                  <a:srgbClr val="1E2A33"/>
                </a:solidFill>
                <a:latin typeface="Arial"/>
              </a:rPr>
              <a:t>каталог, экспресс-оценка применимости, расчёт экономики и проверка на 2D-модели — в одном сценарии.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03 · ЦЕЛЕВАЯ АУДИТОРИЯ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Для кого платформа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1525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59" y="1993392"/>
            <a:ext cx="128016" cy="128016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92808"/>
            <a:ext cx="278373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Руководители предприятий и подразделений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296661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Окупится ли роботизация и за какой срок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91640"/>
            <a:ext cx="351525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2538" y="1993392"/>
            <a:ext cx="128016" cy="128016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1138" y="1892808"/>
            <a:ext cx="278373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Технические директора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2743200"/>
            <a:ext cx="296661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Применимы ли решения к объекту и его инфраструктуре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691640"/>
            <a:ext cx="351525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02116" y="1993392"/>
            <a:ext cx="128016" cy="128016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0716" y="1892808"/>
            <a:ext cx="278373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Руководители по автоматизации и цифровой трансформации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2116" y="2743200"/>
            <a:ext cx="296661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Сравнение альтернатив по единым показателям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57600"/>
            <a:ext cx="351525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" y="3959352"/>
            <a:ext cx="128016" cy="128016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858768"/>
            <a:ext cx="278373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Логисты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709160"/>
            <a:ext cx="296661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Сколько роботов нужно и справится ли парк с пиком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3657600"/>
            <a:ext cx="351525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2538" y="3959352"/>
            <a:ext cx="128016" cy="128016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1138" y="3858768"/>
            <a:ext cx="278373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Операционные и финансовые аналитики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2538" y="4709160"/>
            <a:ext cx="296661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CAPEX, OPEX, ROI, формулы и допущения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7796" y="3657600"/>
            <a:ext cx="351525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2116" y="3959352"/>
            <a:ext cx="128016" cy="128016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0716" y="3858768"/>
            <a:ext cx="278373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Специалисты по предварительному обоснованию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2116" y="4709160"/>
            <a:ext cx="296661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Материалы для перехода к ТЭО и пилоту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Интерфейс на русском, для пользователей без навыков программирования (п. 4.5 ТЗ).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04 · ПОЛЬЗОВАТЕЛЬСКИЙ ПУТЬ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8 шагов от объекта до отчёта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59" y="2011679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11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011679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Объект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0603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Тип объекта и процессы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43935" y="2514600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90823" y="1737360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65143" y="2011679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5143" y="2011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9503" y="2011679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Параметры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260603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Форма, демо-данные или CSV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6119" y="2514600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33007" y="1737360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7327" y="2011679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011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1687" y="2011679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Подбор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60603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Статусы и причины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28303" y="2514600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75191" y="1737360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49511" y="2011679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9511" y="2011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43871" y="2011679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Сравнение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9511" y="260603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Характеристики рядом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79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59" y="3886200"/>
            <a:ext cx="457200" cy="4572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3886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886200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Экономика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448055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Три сценария, 8 показателей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143935" y="4389120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390823" y="3611879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65143" y="3886200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65143" y="3886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9503" y="3886200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What-if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65143" y="448055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Допущения и чувствительность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86119" y="4389120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233007" y="3611879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07327" y="3886200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7327" y="3886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01687" y="3886200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Симуляция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7327" y="448055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2D-модель пикового часа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828303" y="4389120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075191" y="3611879"/>
            <a:ext cx="2567863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49511" y="3886200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9511" y="3886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43871" y="3886200"/>
            <a:ext cx="156202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Экспорт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49511" y="4480559"/>
            <a:ext cx="211066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B6B77"/>
                </a:solidFill>
                <a:latin typeface="Arial"/>
              </a:rPr>
              <a:t>Отчёт PDF, CSV, PNG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Гость</a:t>
            </a:r>
            <a:r>
              <a:rPr sz="1500" b="0" i="0">
                <a:solidFill>
                  <a:srgbClr val="1E2A33"/>
                </a:solidFill>
                <a:latin typeface="Arial"/>
              </a:rPr>
              <a:t> — весь путь на /demo без сохранения.   </a:t>
            </a:r>
            <a:r>
              <a:rPr sz="1500" b="1" i="0">
                <a:solidFill>
                  <a:srgbClr val="1E2A33"/>
                </a:solidFill>
                <a:latin typeface="Arial"/>
              </a:rPr>
              <a:t>Пользователь</a:t>
            </a:r>
            <a:r>
              <a:rPr sz="1500" b="0" i="0">
                <a:solidFill>
                  <a:srgbClr val="1E2A33"/>
                </a:solidFill>
                <a:latin typeface="Arial"/>
              </a:rPr>
              <a:t> — проект, история расчётов, отчёт.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05 · 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Модульный монолит с изолированным ядром расчёта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63093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2F5D7C"/>
                </a:solidFill>
                <a:latin typeface="Arial"/>
              </a:rPr>
              <a:t>Браузер · Vue 3 SPA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Экраны → Pinia → api/*.ts → api/http.ts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60320"/>
            <a:ext cx="2788920" cy="1051560"/>
          </a:xfrm>
          <a:prstGeom prst="roundRect">
            <a:avLst>
              <a:gd name="adj" fmla="val 6956"/>
            </a:avLst>
          </a:prstGeom>
          <a:solidFill>
            <a:srgbClr val="E6EDF2"/>
          </a:solidFill>
          <a:ln w="9525">
            <a:solidFill>
              <a:srgbClr val="E6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24328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1" i="0">
                <a:solidFill>
                  <a:srgbClr val="1E2A33"/>
                </a:solidFill>
                <a:latin typeface="Arial"/>
              </a:rPr>
              <a:t>Мок-сервер</a:t>
            </a:r>
          </a:p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0" i="0">
                <a:solidFill>
                  <a:srgbClr val="1E2A33"/>
                </a:solidFill>
                <a:latin typeface="Arial"/>
              </a:rPr>
              <a:t>модель mock-1.0, данные в localStorage — основа демо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2560320"/>
            <a:ext cx="2788920" cy="1051560"/>
          </a:xfrm>
          <a:prstGeom prst="roundRect">
            <a:avLst>
              <a:gd name="adj" fmla="val 6956"/>
            </a:avLst>
          </a:prstGeom>
          <a:solidFill>
            <a:srgbClr val="E6EDF2"/>
          </a:solidFill>
          <a:ln w="9525">
            <a:solidFill>
              <a:srgbClr val="E6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2624328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1" i="0">
                <a:solidFill>
                  <a:srgbClr val="1E2A33"/>
                </a:solidFill>
                <a:latin typeface="Arial"/>
              </a:rPr>
              <a:t>2D-симуляция</a:t>
            </a:r>
          </a:p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0" i="0">
                <a:solidFill>
                  <a:srgbClr val="1E2A33"/>
                </a:solidFill>
                <a:latin typeface="Arial"/>
              </a:rPr>
              <a:t>дискретно-событийная модель, Canvas 2D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03320" y="3794760"/>
            <a:ext cx="0" cy="32004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94759" y="3813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5B6B77"/>
                </a:solidFill>
                <a:latin typeface="Arial"/>
              </a:rPr>
              <a:t>/api/v1 · целевая схема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1975104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B6B7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24528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1" i="0">
                <a:solidFill>
                  <a:srgbClr val="1E2A33"/>
                </a:solidFill>
                <a:latin typeface="Arial"/>
              </a:rPr>
              <a:t>Robo.Api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0" i="0">
                <a:solidFill>
                  <a:srgbClr val="1E2A33"/>
                </a:solidFill>
                <a:latin typeface="Arial"/>
              </a:rPr>
              <a:t>ASP.NET Core · сейчас каркас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4160520"/>
            <a:ext cx="1975104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B6B7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4224528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1" i="0">
                <a:solidFill>
                  <a:srgbClr val="1E2A33"/>
                </a:solidFill>
                <a:latin typeface="Arial"/>
              </a:rPr>
              <a:t>Robo.Core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0" i="0">
                <a:solidFill>
                  <a:srgbClr val="1E2A33"/>
                </a:solidFill>
                <a:latin typeface="Arial"/>
              </a:rPr>
              <a:t>ядро расчёта · заглушка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4160520"/>
            <a:ext cx="1975104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B6B7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4224528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1" i="0">
                <a:solidFill>
                  <a:srgbClr val="1E2A33"/>
                </a:solidFill>
                <a:latin typeface="Arial"/>
              </a:rPr>
              <a:t>PostgreSQL</a:t>
            </a:r>
          </a:p>
          <a:p>
            <a:pPr algn="l">
              <a:lnSpc>
                <a:spcPct val="115000"/>
              </a:lnSpc>
              <a:spcAft>
                <a:spcPts val="200"/>
              </a:spcAft>
              <a:buNone/>
            </a:pPr>
            <a:r>
              <a:rPr sz="1200" b="0" i="0">
                <a:solidFill>
                  <a:srgbClr val="1E2A33"/>
                </a:solidFill>
                <a:latin typeface="Arial"/>
              </a:rPr>
              <a:t>целевая БД · нет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5B6B77"/>
                </a:solidFill>
                <a:latin typeface="Arial"/>
              </a:rPr>
              <a:t>Пунктир — целевая часть, ещё не реализованная. Демо целиком работает в браузере.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45920"/>
            <a:ext cx="4327855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Почему модульный монолит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011680"/>
            <a:ext cx="4327855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Одна точка развёртывания — хватает для пилотной нагрузки до 50 пользователей</a:t>
            </a:r>
          </a:p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Ядро Robo.Core без зависимостей: функция Calculate тестируется без БД</a:t>
            </a:r>
          </a:p>
          <a:p>
            <a:pPr algn="l" marL="201168" indent="-201168">
              <a:lnSpc>
                <a:spcPct val="115000"/>
              </a:lnSpc>
              <a:spcAft>
                <a:spcPts val="8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Расширение данными: типы объектов и нормативы — JSON, формы строятся по описанию полей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160520"/>
            <a:ext cx="4327855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Стек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526280"/>
            <a:ext cx="4327855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Vue 3, TypeScript, Vite, Pinia, Element Plus, Chart.js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.NET 10, ASP.NET Core; тесты Vitest и xUnit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Docker: nginx для демо-сборки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06 · ИСТОЧНИКИ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Каталог, нормативы, версии, подтверждённость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83080"/>
            <a:ext cx="296661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5B6B77"/>
                </a:solidFill>
                <a:latin typeface="Arial"/>
              </a:rPr>
              <a:t>Каталог роботов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03120"/>
            <a:ext cx="2966618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2F5D7C"/>
                </a:solidFill>
                <a:latin typeface="Arial"/>
              </a:rPr>
              <a:t>10 роботов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966618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Идентификация, ТТХ, инфраструктура, экономика, применимость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У каждого: ссылка на источник, дата, признак «подтверждено»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Сейчас демонстрационный, условные данные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4592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1783080"/>
            <a:ext cx="296661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5B6B77"/>
                </a:solidFill>
                <a:latin typeface="Arial"/>
              </a:rPr>
              <a:t>Типы объектов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2103120"/>
            <a:ext cx="2966618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2F5D7C"/>
                </a:solidFill>
                <a:latin typeface="Arial"/>
              </a:rPr>
              <a:t>3 типа · 47 полей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2697480"/>
            <a:ext cx="2966618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Склад, аэропорт, больница — JSON-справочник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Форма строится по описанию полей: единица, диапазон, подсказка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Файлы фронтенда и бэкенда сверяет тест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64592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2116" y="1783080"/>
            <a:ext cx="296661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5B6B77"/>
                </a:solidFill>
                <a:latin typeface="Arial"/>
              </a:rPr>
              <a:t>Нормативы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2103120"/>
            <a:ext cx="2966618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2F5D7C"/>
                </a:solidFill>
                <a:latin typeface="Arial"/>
              </a:rPr>
              <a:t>18 записей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2116" y="2697480"/>
            <a:ext cx="2966618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norms.json: значение, единица, источник, статус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ТК РФ ст. 91, ГОСТ 33757-2016, СП 158.13330.2014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Остальное — демо-оценки команды со статусом «допущение»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00600"/>
            <a:ext cx="11094415" cy="1234440"/>
          </a:xfrm>
          <a:prstGeom prst="roundRect">
            <a:avLst>
              <a:gd name="adj" fmla="val 5925"/>
            </a:avLst>
          </a:prstGeom>
          <a:solidFill>
            <a:srgbClr val="E6EDF2"/>
          </a:solidFill>
          <a:ln w="9525">
            <a:solidFill>
              <a:srgbClr val="E6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892040"/>
            <a:ext cx="56692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Версии в каждом расчёте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данные catalog-2026.09 · модель mock-1.0 · симуляция sim-1.2 — сохранённый расчёт открывается таким, каким был посчитан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892040"/>
            <a:ext cx="4693615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Подтверждённость видна везде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метки «Подтверждено» / «Допущение» в карточке, расчёте и отчёте; неподтверждённые данные снижают балл подбора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07 · АЛГОРИТМ ПОДБОРА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Жёсткие ограничения, статусы и объяснимый балл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Критичные проверки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5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Грузоподъёмность ≥ массы груза</a:t>
            </a:r>
          </a:p>
          <a:p>
            <a:pPr algn="l" marL="201168" indent="-201168">
              <a:lnSpc>
                <a:spcPct val="115000"/>
              </a:lnSpc>
              <a:spcAft>
                <a:spcPts val="5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Мин. ширина прохода робота ≤ ширины на объекте</a:t>
            </a:r>
          </a:p>
          <a:p>
            <a:pPr algn="l" marL="201168" indent="-201168">
              <a:lnSpc>
                <a:spcPct val="115000"/>
              </a:lnSpc>
              <a:spcAft>
                <a:spcPts val="500"/>
              </a:spcAft>
              <a:buClr>
                <a:srgbClr val="2F5D7C"/>
              </a:buClr>
              <a:buFont typeface="Arial"/>
              <a:buChar char="■"/>
            </a:pPr>
            <a:r>
              <a:rPr sz="1400" b="0" i="0">
                <a:solidFill>
                  <a:srgbClr val="1E2A33"/>
                </a:solidFill>
                <a:latin typeface="Arial"/>
              </a:rPr>
              <a:t>Для пиковой потребности нужно не больше 40 роботов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Некритичные: автономность на смену, подтверждённость данных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 подходит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657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есть проваленная критичная проверка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Требует проверки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16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по критичной проверке нет данных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663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все критичные проверки пройдены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57800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5B6B77"/>
                </a:solidFill>
                <a:latin typeface="Arial"/>
              </a:rPr>
              <a:t>Каждая проверка показывает «требуется / фактически» и пояснение. Исключённого робота можно добавить в сравнение вручную — с предупреждением.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1645920"/>
            <a:ext cx="4967935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783080"/>
            <a:ext cx="4419295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Балл 0–100: 5 факторов с весами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858000" y="2194560"/>
          <a:ext cx="4602175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949440" y="5532120"/>
            <a:ext cx="44192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5B6B77"/>
                </a:solidFill>
                <a:latin typeface="Arial"/>
              </a:rPr>
              <a:t>Вклад каждого фактора виден в карточке робота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08 · ЭКОНОМИЧЕСКАЯ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Три сценария, восемь показателей, открытые формулы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152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55648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Текущее состояние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2966618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Процессы выполняет персонал — точка отсчёта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645920"/>
            <a:ext cx="35152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2538" y="1755648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Покупка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2538" y="2148840"/>
            <a:ext cx="2966618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Роботы, зарядные станции, ПО и интеграция, пусконаладка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645920"/>
            <a:ext cx="35152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02116" y="1755648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Роботы как услуга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2116" y="2148840"/>
            <a:ext cx="2966618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Ежемесячная плата за робота, разовое внедрение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8 показателей в каждом сценарии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478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Число роботов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35478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4290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CAPEX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050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OPEX в год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40050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8862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Изменение OPEX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622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434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Годовой эффект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44622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3434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Окупаемость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9194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8006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ROI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40" y="4919472"/>
            <a:ext cx="109728" cy="109728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480060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E2A33"/>
                </a:solidFill>
                <a:latin typeface="Arial"/>
              </a:rPr>
              <a:t>ТСО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017520"/>
            <a:ext cx="5608015" cy="2194560"/>
          </a:xfrm>
          <a:prstGeom prst="roundRect">
            <a:avLst>
              <a:gd name="adj" fmla="val 3333"/>
            </a:avLst>
          </a:prstGeom>
          <a:solidFill>
            <a:srgbClr val="E6EDF2"/>
          </a:solidFill>
          <a:ln w="9525">
            <a:solidFill>
              <a:srgbClr val="E6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3127248"/>
            <a:ext cx="5059375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Роботов</a:t>
            </a:r>
            <a:r>
              <a:rPr sz="1300" b="0" i="0">
                <a:solidFill>
                  <a:srgbClr val="1E2A33"/>
                </a:solidFill>
                <a:latin typeface="Arial"/>
              </a:rPr>
              <a:t> = пик / (произв. × загрузка × готовность) × (1 + резерв), вверх до целого</a:t>
            </a:r>
          </a:p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Эффект</a:t>
            </a:r>
            <a:r>
              <a:rPr sz="1300" b="0" i="0">
                <a:solidFill>
                  <a:srgbClr val="1E2A33"/>
                </a:solidFill>
                <a:latin typeface="Arial"/>
              </a:rPr>
              <a:t> = экономия ФОТ − расходы на роботов</a:t>
            </a:r>
          </a:p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Окупаемость</a:t>
            </a:r>
            <a:r>
              <a:rPr sz="1300" b="0" i="0">
                <a:solidFill>
                  <a:srgbClr val="1E2A33"/>
                </a:solidFill>
                <a:latin typeface="Arial"/>
              </a:rPr>
              <a:t> = CAPEX / годовой эффект</a:t>
            </a:r>
          </a:p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ROI</a:t>
            </a:r>
            <a:r>
              <a:rPr sz="1300" b="0" i="0">
                <a:solidFill>
                  <a:srgbClr val="1E2A33"/>
                </a:solidFill>
                <a:latin typeface="Arial"/>
              </a:rPr>
              <a:t> = накопленный эффект за горизонт / CAPEX × 100 %</a:t>
            </a:r>
          </a:p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sz="1300" b="1" i="0">
                <a:solidFill>
                  <a:srgbClr val="1E2A33"/>
                </a:solidFill>
                <a:latin typeface="Arial"/>
              </a:rPr>
              <a:t>ТСО</a:t>
            </a:r>
            <a:r>
              <a:rPr sz="1300" b="0" i="0">
                <a:solidFill>
                  <a:srgbClr val="1E2A33"/>
                </a:solidFill>
                <a:latin typeface="Arial"/>
              </a:rPr>
              <a:t> = CAPEX + OPEX × горизонт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Формула, исходные данные и источник — по клику на показатель и в отчёте. Допущения — таблица со статусом «подтверждено / допущение».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09 · ЧУВСТВИТЕЛЬНОСТЬ И WHAT-IF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Что будет, если допущения окажутся другими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6675120" cy="4389120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55648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Демо-склад, покупка: срок окупаемости, лет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2148840"/>
          <a:ext cx="6309359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19" y="1645920"/>
            <a:ext cx="4053535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011680"/>
            <a:ext cx="4053535" cy="1737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3 параметра: стоимость оборудования, объём операций, стоимость труда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Отклонения ±10 и ±20 % для покупки и аренды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Экран называет самый влиятельный параметр — на демо-складе это стоимость труда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3840480"/>
            <a:ext cx="4053535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1E2A33"/>
                </a:solidFill>
                <a:latin typeface="Arial"/>
              </a:rPr>
              <a:t>What-if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4206240"/>
            <a:ext cx="4053535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9 допущений: ставка, смены, дни, загрузка, горизонт, производительность, цена, обслуживание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Пересчёт рядом с исходным результатом, проект не меняется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Ручные правки отмечаются «изменено вручную»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10 · 2D-ИМИТАЦИЯ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Симуляция проверяет предпосылку расчёта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567863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21106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Из расчёта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2110663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Число роботов, пиковая потребность, производительность из каталога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43935" y="2441448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90823" y="1645920"/>
            <a:ext cx="2567863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423" y="1755648"/>
            <a:ext cx="21106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423" y="2148840"/>
            <a:ext cx="2110663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1 час, случайный поток заявок, маршруты между зонами склада, зарядка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86119" y="2441448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33007" y="1645920"/>
            <a:ext cx="2567863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55648"/>
            <a:ext cx="21106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KPI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2148840"/>
            <a:ext cx="2110663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Выполнено, загрузка, простои, очередь, узкое место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28303" y="2441448"/>
            <a:ext cx="219456" cy="0"/>
          </a:xfrm>
          <a:prstGeom prst="line">
            <a:avLst/>
          </a:prstGeom>
          <a:ln w="19050">
            <a:solidFill>
              <a:srgbClr val="2F5D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75191" y="1645920"/>
            <a:ext cx="2567863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55648"/>
            <a:ext cx="21106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F5D7C"/>
                </a:solidFill>
                <a:latin typeface="Arial"/>
              </a:rPr>
              <a:t>Вердикт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148840"/>
            <a:ext cx="2110663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Подтверждён, если выполнено ≥ 90 % цели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10047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6118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2E8B57"/>
                </a:solidFill>
                <a:latin typeface="Arial"/>
              </a:rPr>
              <a:t>95 %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657600"/>
            <a:ext cx="26668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2E8B57"/>
                </a:solidFill>
                <a:latin typeface="Arial"/>
              </a:rPr>
              <a:t>Расчёт подтверждён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69080"/>
            <a:ext cx="2666847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15 роботов AMR-600 — столько, сколько дал расчёт; загрузка роботов 63 %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20440"/>
            <a:ext cx="5410047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36118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C0392B"/>
                </a:solidFill>
                <a:latin typeface="Arial"/>
              </a:rPr>
              <a:t>80,8 %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1887" y="3657600"/>
            <a:ext cx="26668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C0392B"/>
                </a:solidFill>
                <a:latin typeface="Arial"/>
              </a:rPr>
              <a:t>Не подтверждён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1887" y="4069080"/>
            <a:ext cx="2666847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E2A33"/>
                </a:solidFill>
                <a:latin typeface="Arial"/>
              </a:rPr>
              <a:t>8 роботов — меньше расчётного; предложение «Пересчитать с N+1 роботом»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4924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Порог 90 %, а не 100 %: случайный поток за один час при достаточном парке даёт 90,7–112,5 % цели (30 прогонов). Сейчас план есть только у склада.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11 · РЕЗУЛЬТАТЫ ДЕМО-СКЛАДА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Склад 12 000 м², пик 447 операций в 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108960" cy="3977639"/>
          </a:xfrm>
          <a:prstGeom prst="roundRect">
            <a:avLst>
              <a:gd name="adj" fmla="val 2352"/>
            </a:avLst>
          </a:prstGeom>
          <a:solidFill>
            <a:srgbClr val="E6EDF2"/>
          </a:solidFill>
          <a:ln w="9525">
            <a:solidFill>
              <a:srgbClr val="E6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56032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6600" b="1" i="0">
                <a:solidFill>
                  <a:srgbClr val="2F5D7C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971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E2A33"/>
                </a:solidFill>
                <a:latin typeface="Arial"/>
              </a:rPr>
              <a:t>роботов «Логимов AMR-600» по расчёту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8404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00" b="1" i="0">
                <a:solidFill>
                  <a:srgbClr val="2E8B57"/>
                </a:solidFill>
                <a:latin typeface="Arial"/>
              </a:rPr>
              <a:t>95 %</a:t>
            </a:r>
            <a:r>
              <a:rPr sz="1400" b="0" i="0">
                <a:solidFill>
                  <a:srgbClr val="1E2A33"/>
                </a:solidFill>
                <a:latin typeface="Arial"/>
              </a:rPr>
              <a:t> цели в симуляции — подтверждено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00" b="1" i="0">
                <a:solidFill>
                  <a:srgbClr val="1E2A33"/>
                </a:solidFill>
                <a:latin typeface="Arial"/>
              </a:rPr>
              <a:t>64</a:t>
            </a:r>
            <a:r>
              <a:rPr sz="1400" b="0" i="0">
                <a:solidFill>
                  <a:srgbClr val="1E2A33"/>
                </a:solidFill>
                <a:latin typeface="Arial"/>
              </a:rPr>
              <a:t> сотрудника сейчас, замещается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645920"/>
            <a:ext cx="3718407" cy="3977639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16976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Покупка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2402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224028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Умеренная окупаемость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7889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CAPEX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063239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70,05 млн 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4747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Годовой эффект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749039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16,0 млн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1605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Окупаемость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434840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4,4 года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8463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ROI за 5 лет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5120640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114,3 %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4647" y="1645920"/>
            <a:ext cx="3718407" cy="3977639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8967" y="1783080"/>
            <a:ext cx="316976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1E2A33"/>
                </a:solidFill>
                <a:latin typeface="Arial"/>
              </a:rPr>
              <a:t>Роботы как услуга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8967" y="22402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8967" y="224028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Окупается быстро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8967" y="27889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CAPEX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8967" y="3063239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1,5 млн 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8967" y="34747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Годовой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8967" y="3749039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0,71 млн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8967" y="41605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Окупаемость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53247" y="4434840"/>
            <a:ext cx="178308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8967" y="4434840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2,1 года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8967" y="4846320"/>
            <a:ext cx="31697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B6B77"/>
                </a:solidFill>
                <a:latin typeface="Arial"/>
              </a:rPr>
              <a:t>ROI за 5 лет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8967" y="5120640"/>
            <a:ext cx="316976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E2A33"/>
                </a:solidFill>
                <a:latin typeface="Arial"/>
              </a:rPr>
              <a:t>236 %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5B6B77"/>
                </a:solidFill>
                <a:latin typeface="Arial"/>
              </a:rPr>
              <a:t>Демо-данные: каталог условный, модель mock-1.0, данные catalog-2026.09. Цифры воспроизводятся в продукте на /demo.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12 ·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Что важно знать о текущей версии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114800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59" y="1856231"/>
            <a:ext cx="164592" cy="1645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64792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E2A33"/>
                </a:solidFill>
                <a:latin typeface="Arial"/>
              </a:rPr>
              <a:t>Состояние продукта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31720"/>
            <a:ext cx="4815687" cy="3291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Демо работает в браузере на мок-сервере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Бэкенд — каркас: только /robots, без хранения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Серверное ядро расчёта — заглушка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Данные демо хранятся в браузере пользователя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Excel и импорт каталога не реализованы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114800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53047" y="1856231"/>
            <a:ext cx="164592" cy="164592"/>
          </a:xfrm>
          <a:prstGeom prst="rect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7367" y="1764792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E2A33"/>
                </a:solidFill>
                <a:latin typeface="Arial"/>
              </a:rPr>
              <a:t>Данные и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2331720"/>
            <a:ext cx="4815687" cy="3291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Каталог вымышленный, данных организатора нет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Коэффициенты модели — допущения команды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Нет амортизации; ТСО без замены компонентов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Симуляция: только склад, без заторов, один прогон</a:t>
            </a:r>
          </a:p>
          <a:p>
            <a:pPr algn="l" marL="201168" indent="-201168">
              <a:lnSpc>
                <a:spcPct val="115000"/>
              </a:lnSpc>
              <a:spcAft>
                <a:spcPts val="1000"/>
              </a:spcAft>
              <a:buClr>
                <a:srgbClr val="2F5D7C"/>
              </a:buClr>
              <a:buFont typeface="Arial"/>
              <a:buChar char="■"/>
            </a:pPr>
            <a:r>
              <a:rPr sz="1500" b="0" i="0">
                <a:solidFill>
                  <a:srgbClr val="1E2A33"/>
                </a:solidFill>
                <a:latin typeface="Arial"/>
              </a:rPr>
              <a:t>Новые поля аэропорта и больницы не влияют на подбор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5B6B77"/>
                </a:solidFill>
                <a:latin typeface="Arial"/>
              </a:rPr>
              <a:t>13 · СТАТУС ФУНКЦИЙ · П.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1E2A33"/>
                </a:solidFill>
                <a:latin typeface="Arial"/>
              </a:rPr>
              <a:t>Что реализовано: 44 функции из docs/limitations.md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567863" cy="43434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8308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2E8B57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19" y="1828800"/>
            <a:ext cx="1287703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Полностью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64943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Три сценария (3.5.5)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Ручная корректировка (3.5.4)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Чувствительность (3.5.6)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Объяснимое ранжирование (3.4.5)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Управление симуляцией (3.6.3)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Три типа объектов (5.5)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645920"/>
            <a:ext cx="2567863" cy="43434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178308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C98A0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103" y="1828800"/>
            <a:ext cx="1287703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Частично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2697480"/>
            <a:ext cx="2064943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Проекты и история (3.1.3, 3.1.5)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Загрузка CSV (3.2.3)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Подбор (3.4.1–3.4.3)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Показатели: ТСО, амортизация (3.5.2)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Отчёт PDF (3.7.2)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Контейнеры (4.2.3)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645920"/>
            <a:ext cx="2567863" cy="43434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178308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2F5D7C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1828800"/>
            <a:ext cx="1287703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Прототип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697480"/>
            <a:ext cx="2064943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Обновление каталога (3.3.6)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Безопасность (4.4)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645920"/>
            <a:ext cx="2567863" cy="43434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5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49511" y="178308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C0392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72471" y="1828800"/>
            <a:ext cx="1287703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1E2A33"/>
                </a:solidFill>
                <a:latin typeface="Arial"/>
              </a:rPr>
              <a:t>Не реализовано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9511" y="2697480"/>
            <a:ext cx="2064943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Таблица организатора (3.3.2)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Открытые источники (3.3.3)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API импорта (3.8.2)</a:t>
            </a:r>
          </a:p>
          <a:p>
            <a:pPr algn="l" marL="201168" indent="-201168">
              <a:lnSpc>
                <a:spcPct val="115000"/>
              </a:lnSpc>
              <a:spcAft>
                <a:spcPts val="600"/>
              </a:spcAft>
              <a:buClr>
                <a:srgbClr val="2F5D7C"/>
              </a:buClr>
              <a:buFont typeface="Arial"/>
              <a:buChar char="■"/>
            </a:pPr>
            <a:r>
              <a:rPr sz="1300" b="0" i="0">
                <a:solidFill>
                  <a:srgbClr val="1E2A33"/>
                </a:solidFill>
                <a:latin typeface="Arial"/>
              </a:rPr>
              <a:t>СУБД (4.2.4)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5B6B77"/>
                </a:solidFill>
                <a:latin typeface="Arial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46304" cy="14630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42976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b="1" i="0">
                <a:solidFill>
                  <a:srgbClr val="AEB9C2"/>
                </a:solidFill>
                <a:latin typeface="Arial"/>
              </a:rPr>
              <a:t>14 · ПЛАН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FFFFFF"/>
                </a:solidFill>
                <a:latin typeface="Arial"/>
              </a:rPr>
              <a:t>Следующие шаги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55648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Бэкенд по контракту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084832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Эндпоинты, PostgreSQL, JWT, три контейнера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999232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9923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880360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Расчётное ядро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209544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Формулы из моков в Robo.Core, нормативы из norms.json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123944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239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005072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Данные организатора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334256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Импорт каталога CSV/XLSX, демо-наборы, реальные источники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20056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248656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129784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Экономика по ТЗ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458968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Замена компонентов в ТСО, амортизация, заёмное финансирование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8727" y="1645920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07327" y="1874519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187451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1755648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Подбор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7407" y="2084832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Правила по безопасности, зонам, санобработке; связь с процессом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8727" y="2770632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07327" y="2999232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7327" y="299923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7407" y="2880360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Симуляция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7407" y="3209544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Планы аэропорта и больницы, заторы, серия прогонов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8727" y="3895344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07327" y="4123944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07327" y="41239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47407" y="4005072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Выгрузки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47407" y="4334256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Серверный PDF и Excel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78727" y="5020056"/>
            <a:ext cx="5364327" cy="960120"/>
          </a:xfrm>
          <a:prstGeom prst="roundRect">
            <a:avLst>
              <a:gd name="adj" fmla="val 7619"/>
            </a:avLst>
          </a:prstGeom>
          <a:solidFill>
            <a:srgbClr val="2A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07327" y="5248656"/>
            <a:ext cx="457200" cy="4572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7327" y="52486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7407" y="5129784"/>
            <a:ext cx="4267047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Интеграции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47407" y="5458968"/>
            <a:ext cx="4267047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C9D2D9"/>
                </a:solidFill>
                <a:latin typeface="Arial"/>
              </a:rPr>
              <a:t>Объёмы из WMS, ставки и цены из ERP и 1С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AEB9C2"/>
                </a:solidFill>
                <a:latin typeface="Arial"/>
              </a:rPr>
              <a:t>РобоПодбор · хакатон ФЦ БАС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AEB9C2"/>
                </a:solidFill>
                <a:latin typeface="Arial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