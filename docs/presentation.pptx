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94" r:id="rId46"/>
    <p:sldId id="279" r:id="rId27"/>
    <p:sldId id="280" r:id="rId28"/>
    <p:sldId id="275" r:id="rId23"/>
    <p:sldId id="272" r:id="rId20"/>
    <p:sldId id="295" r:id="rId47"/>
    <p:sldId id="268" r:id="rId16"/>
    <p:sldId id="278" r:id="rId26"/>
    <p:sldId id="277" r:id="rId25"/>
    <p:sldId id="276" r:id="rId24"/>
    <p:sldId id="296" r:id="rId48"/>
    <p:sldId id="297" r:id="rId49"/>
    <p:sldId id="270" r:id="rId18"/>
    <p:sldId id="293" r:id="rId45"/>
    <p:sldId id="273" r:id="rId21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6" Type="http://schemas.openxmlformats.org/officeDocument/2006/relationships/slide" Target="slides/slide12.xml"/><Relationship Id="rId18" Type="http://schemas.openxmlformats.org/officeDocument/2006/relationships/slide" Target="slides/slide18.xml"/><Relationship Id="rId20" Type="http://schemas.openxmlformats.org/officeDocument/2006/relationships/slide" Target="slides/slide10.xml"/><Relationship Id="rId21" Type="http://schemas.openxmlformats.org/officeDocument/2006/relationships/slide" Target="slides/slide20.xml"/><Relationship Id="rId23" Type="http://schemas.openxmlformats.org/officeDocument/2006/relationships/slide" Target="slides/slide9.xml"/><Relationship Id="rId24" Type="http://schemas.openxmlformats.org/officeDocument/2006/relationships/slide" Target="slides/slide15.xml"/><Relationship Id="rId25" Type="http://schemas.openxmlformats.org/officeDocument/2006/relationships/slide" Target="slides/slide14.xml"/><Relationship Id="rId26" Type="http://schemas.openxmlformats.org/officeDocument/2006/relationships/slide" Target="slides/slide13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Id45" Type="http://schemas.openxmlformats.org/officeDocument/2006/relationships/slide" Target="slides/slide19.xml"/><Relationship Id="rId46" Type="http://schemas.openxmlformats.org/officeDocument/2006/relationships/slide" Target="slides/slide6.xml"/><Relationship Id="rId47" Type="http://schemas.openxmlformats.org/officeDocument/2006/relationships/slide" Target="slides/slide11.xml"/><Relationship Id="rId48" Type="http://schemas.openxmlformats.org/officeDocument/2006/relationships/slide" Target="slides/slide16.xml"/><Relationship Id="rId49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 оборудования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−20 %</c:v>
                </c:pt>
                <c:pt idx="1">
                  <c:v>−10 %</c:v>
                </c:pt>
                <c:pt idx="2">
                  <c:v>Расчёт</c:v>
                </c:pt>
                <c:pt idx="3">
                  <c:v>+10 %</c:v>
                </c:pt>
                <c:pt idx="4">
                  <c:v>+20 %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3.59</c:v>
                </c:pt>
                <c:pt idx="1">
                  <c:v>3.98</c:v>
                </c:pt>
                <c:pt idx="2">
                  <c:v>4.38</c:v>
                </c:pt>
                <c:pt idx="3">
                  <c:v>4.77</c:v>
                </c:pt>
                <c:pt idx="4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Объём операций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−20 %</c:v>
                </c:pt>
                <c:pt idx="1">
                  <c:v>−10 %</c:v>
                </c:pt>
                <c:pt idx="2">
                  <c:v>Расчёт</c:v>
                </c:pt>
                <c:pt idx="3">
                  <c:v>+10 %</c:v>
                </c:pt>
                <c:pt idx="4">
                  <c:v>+20 %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4.13</c:v>
                </c:pt>
                <c:pt idx="1">
                  <c:v>4.68</c:v>
                </c:pt>
                <c:pt idx="2">
                  <c:v>4.38</c:v>
                </c:pt>
                <c:pt idx="3">
                  <c:v>4.16</c:v>
                </c:pt>
                <c:pt idx="4">
                  <c:v>3.96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Стоимость труда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−20 %</c:v>
                </c:pt>
                <c:pt idx="1">
                  <c:v>−10 %</c:v>
                </c:pt>
                <c:pt idx="2">
                  <c:v>Расчёт</c:v>
                </c:pt>
                <c:pt idx="3">
                  <c:v>+10 %</c:v>
                </c:pt>
                <c:pt idx="4">
                  <c:v>+20 %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6.0</c:v>
                </c:pt>
                <c:pt idx="1">
                  <c:v>5.06</c:v>
                </c:pt>
                <c:pt idx="2">
                  <c:v>4.38</c:v>
                </c:pt>
                <c:pt idx="3">
                  <c:v>3.85</c:v>
                </c:pt>
                <c:pt idx="4">
                  <c:v>3.44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Вес фактора в балле 0–100, %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Доступность поставки</c:v>
                </c:pt>
                <c:pt idx="1">
                  <c:v>Полнота и достоверность данных</c:v>
                </c:pt>
                <c:pt idx="2">
                  <c:v>Соответствие объекту</c:v>
                </c:pt>
                <c:pt idx="3">
                  <c:v>Производительность</c:v>
                </c:pt>
                <c:pt idx="4">
                  <c:v>Экономика (окупаемость)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35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40.0"/>
          <c:min val="0.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5.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Нормативы norms.json</c:v>
                </c:pt>
              </c:strCache>
            </c:strRef>
          </c:tx>
          <c:spPr bwMode="auto">
            <a:ln w="63500"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FF0053"/>
              </a:solidFill>
              <a:ln w="63500" cap="rnd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520977"/>
              </a:solidFill>
              <a:ln w="63500" cap="rnd">
                <a:solidFill>
                  <a:schemeClr val="accent5"/>
                </a:solidFill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Подтверждено</c:v>
                </c:pt>
                <c:pt idx="1">
                  <c:v>Допущение команды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3</c:v>
                </c:pt>
                <c:pt idx="1">
                  <c:v>21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</a:p>
          </c:txPr>
          <c:showLegendKey val="0"/>
          <c:showPercent val="0"/>
          <c:showSerName val="0"/>
          <c:showVal val="1"/>
        </c:dLbls>
        <c:firstSliceAng val="0"/>
        <c:holeSize val="75"/>
      </c:doughnutChart>
      <c:spPr bwMode="auto">
        <a:prstGeom prst="rect">
          <a:avLst/>
        </a:prstGeom>
        <a:noFill/>
        <a:ln>
          <a:noFill/>
        </a:ln>
        <a:effectLst/>
      </c:spPr>
    </c:plotArea>
    <c:legend>
      <c:overlay val="0"/>
      <c:txPr>
        <a:bodyPr/>
        <a:lstStyle/>
        <a:p>
          <a:pPr>
            <a:defRPr sz="1200">
              <a:solidFill>
                <a:srgbClr val="1C1D22"/>
              </a:solidFill>
            </a:defRPr>
          </a:pPr>
        </a:p>
      </c:txPr>
    </c:legend>
    <c:plotVisOnly val="1"/>
    <c:dispBlanksAs val="gap"/>
    <c:showDLblsOverMax val="0"/>
  </c:chart>
  <c:spPr bwMode="auto">
    <a:xfrm rot="0">
      <a:off x="625096" y="1360288"/>
      <a:ext cx="5125748" cy="4385667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CAPEX, млн ₽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Покупка</c:v>
                </c:pt>
                <c:pt idx="1">
                  <c:v>Роботы как услуга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70.05</c:v>
                </c:pt>
                <c:pt idx="1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Годовой эффект, млн ₽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Покупка</c:v>
                </c:pt>
                <c:pt idx="1">
                  <c:v>Роботы как услуга</c:v>
                </c:pt>
              </c:strCache>
            </c:strRef>
          </c:cat>
          <c:val>
            <c:numRef>
              <c:f>Sheet1!$C$2:$C$3</c:f>
              <c:numCache>
                <c:formatCode>0.00</c:formatCode>
                <c:ptCount val="2"/>
                <c:pt idx="0">
                  <c:v>16.0</c:v>
                </c:pt>
                <c:pt idx="1">
                  <c:v>0.71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.0#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80.0"/>
          <c:min val="0.0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0.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Выполнено за час, % цели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8 роботов</c:v>
                </c:pt>
                <c:pt idx="1">
                  <c:v>Порог подтверждения</c:v>
                </c:pt>
                <c:pt idx="2">
                  <c:v>15 роботов (расчёт)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80.8</c:v>
                </c:pt>
                <c:pt idx="1">
                  <c:v>90</c:v>
                </c:pt>
                <c:pt idx="2">
                  <c:v>95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0.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44 функции</c:v>
                </c:pt>
              </c:strCache>
            </c:strRef>
          </c:tx>
          <c:spPr bwMode="auto">
            <a:ln w="63500"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FF0053"/>
              </a:solidFill>
              <a:ln w="63500" cap="rnd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520977"/>
              </a:solidFill>
              <a:ln w="63500" cap="rnd">
                <a:solidFill>
                  <a:schemeClr val="accent5"/>
                </a:solidFill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rgbClr val="8A83D1"/>
              </a:solidFill>
              <a:ln w="63500" cap="rnd">
                <a:solidFill>
                  <a:schemeClr val="accent4"/>
                </a:solidFill>
              </a:ln>
              <a:effectLst/>
            </c:spPr>
          </c:dPt>
          <c:dPt>
            <c:idx val="3"/>
            <c:bubble3D val="0"/>
            <c:spPr bwMode="auto">
              <a:prstGeom prst="rect">
                <a:avLst/>
              </a:prstGeom>
              <a:solidFill>
                <a:srgbClr val="FC3777"/>
              </a:solidFill>
              <a:ln w="63500" cap="rnd">
                <a:solidFill>
                  <a:schemeClr val="accent2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Полностью</c:v>
                </c:pt>
                <c:pt idx="1">
                  <c:v>Частично</c:v>
                </c:pt>
                <c:pt idx="2">
                  <c:v>Прототип</c:v>
                </c:pt>
                <c:pt idx="3">
                  <c:v>Не реализовано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23</c:v>
                </c:pt>
                <c:pt idx="1">
                  <c:v>17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</a:p>
          </c:txPr>
          <c:showLegendKey val="0"/>
          <c:showPercent val="0"/>
          <c:showSerName val="0"/>
          <c:showVal val="1"/>
        </c:dLbls>
        <c:firstSliceAng val="0"/>
        <c:holeSize val="75"/>
      </c:doughnutChart>
      <c:spPr bwMode="auto">
        <a:prstGeom prst="rect">
          <a:avLst/>
        </a:prstGeom>
        <a:noFill/>
        <a:ln>
          <a:noFill/>
        </a:ln>
        <a:effectLst/>
      </c:spPr>
    </c:plotArea>
    <c:legend>
      <c:overlay val="0"/>
      <c:txPr>
        <a:bodyPr/>
        <a:lstStyle/>
        <a:p>
          <a:pPr>
            <a:defRPr sz="1200">
              <a:solidFill>
                <a:srgbClr val="1C1D22"/>
              </a:solidFill>
            </a:defRPr>
          </a:pPr>
        </a:p>
      </c:txPr>
    </c:legend>
    <c:plotVisOnly val="1"/>
    <c:dispBlanksAs val="gap"/>
    <c:showDLblsOverMax val="0"/>
  </c:chart>
  <c:spPr bwMode="auto">
    <a:xfrm rot="0">
      <a:off x="625096" y="1360288"/>
      <a:ext cx="5125748" cy="4385667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 — решение по рекомендуемой структуре шаблона: описание, маркетинговая и бизнесовая части, техническая проработка, уникальность и планы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Мы — команда Team V, задача 1 от ФЦ БАС. Наше решение — РобоПодбор: платформа, которая за один сеанс помогает оценить, стоит ли роботизировать объект: подобрать роботов, посчитать экономику трёх сценариев и проверить расчёт на 2D-модели.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Нас двое, мы студенты МАДИ из Москвы. Капитан — Амир Сафиуллин: фронтенд, расчётное ядро и документация. Ермолай Лукино — бэкенд API. Суть решения — экспресс-оценка роботизации за один сеанс, а уникальность — прозрачность: у каждого числа есть формула и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Контакты участников: Амир Сафиуллин, Telegram @codedumb; Ермолай Лукино, Telegram @YRMLIY. Оба учимся в МАДИ ГТУ.</a:t>
            </a:r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Коротко о том, как мы работали. Главный вызов — вести фронтенд и сервер параллельно: мы сначала зафиксировали контракт API, фронтенд работал на мок-сервере, а затем переключился на сервер. Модель расчёта одинакова в браузере и на сервере — это проверяют общие эталонные тесты.</a:t>
            </a:r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Технически это веб-приложение на Vue и ASP.NET Core с PostgreSQL и изолированным расчётным ядром. С точки зрения применения — экспресс-оценка, которая заменяет первые недели предварительной проработки.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Главные ограничения — в данных, а не в инфраструктуре. Каталог условный: данных организатора нет, и импорта каталога пока нет. PDF делается печатью из браузера. HTTPS не настроен, а демо-учётки создаются с известными паролями. В модели коэффициенты — допущения команды, нет амортизации, симуляция есть только для склада.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Архитектура — модульный монолит: один сервис API и отдельная библиотека расчёта без внешних зависимостей. Всё на схеме реализовано и поднимается тремя контейнерами: nginx с фронтендом, API на ASP.NET Core с ядром расчёта и PostgreSQL. Мок-сервер в браузере остался для автономного демо без бэкенда, его модель совпадает с серверной — это проверяют общие эталонные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демо-складе расчёт даёт 15 роботов. Покупка стоит 70 миллионов, окупается за 4,4 года, ROI за пять лет — 114 процентов. Аренда требует 1,5 миллиона на внедрение и окупается за 2,1 года при ROI 236 процентов, но годовой эффект у неё примерно в 22 раза меньше. Эти числа считает сервер, модель econ-1.0+rec-1.0, и автономное демо даёт те же. Каталог демонстрационный, данные catalog-2026.09: это проверка работы модели, а не рекомендация к закупке.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Чем решение отличается: расчёт прозрачен до формулы и источника, подбор объясняет каждое решение, 2D-модель проверяет, справится ли парк, а каждый расчёт воспроизводим по версиям модели 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Симуляция берёт из расчёта число роботов и пиковую потребность и проверяет, справится ли парк. Расчётные 15 роботов выполняют 95 процентов цели при загрузке 63 процента — расчёт подтверждён, а 8 роботов дают 81 процент, и система предлагает добавить роботов. Порог 90 процентов, а не 100: случайный поток за один час при достаточном парке даёт 90,7–112,5 процента цели в 30 прогонах. План есть только у склада.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Экономика считает три сценария из ТЗ: без роботов, покупку и роботов как услугу, по восьми показателям п. 3.5.2. ROI считается строго по ТЗ — накопленный эффект к капзатратам. Любой показатель открывается с формулой, исходными данными и источником; допущения — таблица со статусом «подтверждено / допущение».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Бэкенд, серверное расчётное ядро и Excel уже сделаны. Дальше — данные организатора и импорт каталога, доработка экономики по ТЗ, правила подбора для аэропорта и больницы, расширение симуляции, серверный PDF и интеграции с WMS и ERP.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99ED4-F20B-0701-D13A-3B951D3B50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п. 5.7 мы разметили 44 функции: 23 реализованы полностью, 17 частично, одна представлена прототипом и три не реализованы. Всё нереализованное связано с данными организатора: загрузка его таблицы, дополнение каталога из открытых источников и API импорта. Полная таблица с причинами и планом — в документе ограничений.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Аудитория взята из ТЗ: от руководителей предприятий до аналитиков, которые готовят обоснование. Каждый получает свой ответ — окупаемость, применимость, число роботов или формулы, и всё это без программирования.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Чувствительность показывает, как меняется срок окупаемости при отклонении трёх параметров на 10 и 20 процентов; для демо-склада сильнее всего влияет стоимость труда. На шаге what-if можно поменять девять допущений и сравнить результат с исходным, не трогая проект.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06EBC-152B-39B7-84F3-BD9F4D07EC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Подбор идёт в два этапа. Критичные проверки — грузоподъёмность, ширина прохода и производительность — определяют статус: не подходит, требует проверки или рекомендовано. Некритичные — автономность на смену и подтверждённость данных. Остальных роботов ранжирует балл из пяти факторов с весами, и пользователь видит вклад каждого; каждая проверка показывает «требуется / фактически».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Данные разделены на каталог, справочник типов объектов и 24 норматива; у каждой записи есть источник и признак подтверждённости: подтверждены 3 норматива, остальные — допущения команды. Источники значений полей — ТК РФ ст. 91, ГОСТ 33757-2016, СП 158.13330.2014. Каждый расчёт хранит версии данных, модели и симуляции — его можно воспроизвести. Оговорка: каталог пока демонстрационный, данных организатора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BE8A63-6423-9D1A-6C53-0FD2972D0E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 ТЗ названы два барьера: нет единого независимого источника данных о роботизированных решениях, и нельзя быстро оценить их применимость и эффект для конкретного объекта. Мы закрываем оба в одном пользовательском сценарии: каталог, подбор, экономика и имитация.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Путь повторяет п. 2.2 ТЗ: восемь шагов от выбора объекта до экспорта. Гость проходит его без регистрации на /demo, без сохранения, а пользователь сохраняет проект и историю расчётов с версиями модели 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t>TEAM V</a:t>
            </a:r>
            <a:endParaRPr lang="ru-RU" sz="480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t>Задача 1 · Платформа подбора роботизированных решений с расчётом экономического эффекта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091804845" name="Логотип ФЦ БАС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515103"/>
            <a:ext cx="5193299" cy="7119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У каждого показателя — формула, исходные данные и источник; подбор объясняет причины; 2D-модель проверяет, справится ли расчётный парк с пиком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 b="0">
                <a:solidFill>
                  <a:schemeClr val="tx1"/>
                </a:solidFill>
              </a:rPr>
              <a:t>Сафиуллин Амир Шавкатович, кафедра АСУ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 b="0">
                <a:solidFill>
                  <a:schemeClr val="tx1"/>
                </a:solidFill>
              </a:rPr>
              <a:t>2 человека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r>
              <a:rPr lang="ru-RU" b="0">
                <a:solidFill>
                  <a:schemeClr val="tx1"/>
                </a:solidFill>
              </a:rPr>
              <a:t>студенты 3 курса кафедры АСУ МАДИ ГТУ; фронтенд, расчётное ядро и документация — Амир, бэкенд API — Ермолай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</a:t>
            </a:r>
            <a:r>
              <a:rPr lang="ru-RU" b="0">
                <a:solidFill>
                  <a:schemeClr val="tx1"/>
                </a:solidFill>
              </a:rPr>
              <a:t>Москва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t>КОМАНДА «TEAM V»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РобоПодбор — веб-платформа экспресс-оценки роботизации объекта: подбор роботов, экономика трёх сценариев, 2D-проверка расчёта и отчёт за один сеанс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150345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32262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Бэкенд API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@YRMLIY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+7 962 016-49-31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МАДИ ГТУ, Москва</a:t>
            </a:r>
            <a:endParaRPr/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322628" y="3622118"/>
            <a:ext cx="189280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 b="1">
                <a:solidFill>
                  <a:schemeClr val="accent5"/>
                </a:solidFill>
              </a:rPr>
              <a:t>Лукино Ермолай Андреевич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845027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4080348" y="1816054"/>
            <a:ext cx="1722566" cy="1552901"/>
          </a:xfrm>
        </p:spPr>
        <p:txBody>
          <a:bodyPr/>
          <a:p/>
        </p:txBody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6385418" y="1826554"/>
            <a:ext cx="1722566" cy="1542401"/>
          </a:xfrm>
        </p:spPr>
        <p:txBody>
          <a:bodyPr/>
          <a:p/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КОМАНДА «TEAM V»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4017311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Капитан; фронтенд, расчётное ядро, документация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@codedumb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+7 906 325-77-96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МАДИ ГТУ, Москва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4017310" y="3622118"/>
            <a:ext cx="189280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 b="1">
                <a:solidFill>
                  <a:schemeClr val="accent5"/>
                </a:solidFill>
              </a:rPr>
              <a:t>Сафиуллин Амир Шавкатович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КОМАНДА «TEAM V»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Оба участника — студенты 3 курса кафедры АСУ МАДИ ГТУ, Москва, оба — бэкенд-разработчики. Капитан — Сафиуллин А.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Сервер догонял фронтенд: сначала зафиксировали контракт API, фронтенд работал на мок-сервере, затем переключился на сервер без переделки экранов.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Модель расчёта — в браузере для демо и на сервере: одинаковые числа гарантируют общие эталонные тесты. Данных организатора нет — у каждой величины видны источник и статус «подтверждено / допущение».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Показалась наиболее интересной: сразу прикинули план и приступили к выполнению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Vue 3 и TypeScript во фронтенде; ASP.NET Core (.NET 10) и PostgreSQL на сервере; три контейнера Docker Compose</a:t>
            </a:r>
            <a:endParaRPr/>
          </a:p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Ядро Robo.Core — чистая функция: подбор rec-1.0 и экономика econ-1.0; коэффициенты — в norms.json с источниками</a:t>
            </a:r>
            <a:endParaRPr/>
          </a:p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Типы объектов и поля форм — данные (JSON), а не код</a:t>
            </a:r>
            <a:endParaRPr/>
          </a:p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2D-модель пикового часа проверяет, справится ли расчётный парк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Экспресс-оценка до дорогой предварительной проработки: за один сеанс видно, окупится ли роботизация и за какой срок</a:t>
            </a:r>
            <a:endParaRPr/>
          </a:p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Три типа объектов: склад, аэропорт, больница</a:t>
            </a:r>
            <a:endParaRPr/>
          </a:p>
          <a:p>
            <a:pPr>
              <a:defRPr/>
            </a:pPr>
            <a:r>
              <a:rPr lang="ru-RU" sz="1300">
                <a:solidFill>
                  <a:srgbClr val="1C1D22"/>
                </a:solidFill>
              </a:rPr>
              <a:t>Развитие: каталог и данные организатора, интеграции с WMS и ERP/1С, симуляция аэропорта и больницы</a:t>
            </a: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347039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Подробное описание решения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Проблема и пользовательский путь · слайды 7–8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Маркетинговая часть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Целевая аудитория и её вопросы · слайд 9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Бизнесовая составляющая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Экономическая модель и эффект на демо-складе · слайды 10–11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Техническая проработка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Архитектура, данные, подбор, чувствительность, имитация, статус функций · слайды 12–17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Уникальность решения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Прозрачный расчёт, объяснимый подбор, проверка на 2D-модели · слайд 18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Планы по развитию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Ограничения и план развития · слайды 19–20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СТРУКТУРА РЕШЕНИЯ</a:t>
            </a:r>
            <a:endParaRPr lang="ru-RU"/>
          </a:p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413617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1C1D22"/>
                </a:solidFill>
              </a:rPr>
              <a:t>Проблема. </a:t>
            </a:r>
            <a:r>
              <a:rPr b="0" sz="1400">
                <a:solidFill>
                  <a:srgbClr val="1C1D22"/>
                </a:solidFill>
              </a:rPr>
              <a:t>Сведения о решениях, характеристиках и ценах разрознены, часто их публикуют сами вендоры. Нельзя быстро оценить, сколько нужно оборудования и каковы CAPEX, OPEX и окупаемость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1C1D22"/>
                </a:solidFill>
              </a:rPr>
              <a:t>Сейчас. </a:t>
            </a:r>
            <a:r>
              <a:rPr b="0" sz="1400">
                <a:solidFill>
                  <a:srgbClr val="1C1D22"/>
                </a:solidFill>
              </a:rPr>
              <a:t>Отдельное исследование для сопоставления решений и дорогая предварительная проработка. Итог: решения откладываются или принимаются на неполных данных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1C1D22"/>
                </a:solidFill>
              </a:rPr>
              <a:t>Наш ответ. </a:t>
            </a:r>
            <a:r>
              <a:rPr b="0" sz="1400">
                <a:solidFill>
                  <a:srgbClr val="1C1D22"/>
                </a:solidFill>
              </a:rPr>
              <a:t>Каталог, экспресс-оценка применимости, расчёт экономики и проверка на 2D-модели — в одном сценарии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ПРОБЛЕМА: ДВА БАРЬЕРА</a:t>
            </a:r>
            <a:endParaRPr lang="ru-RU"/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566628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FF0053"/>
                </a:solidFill>
              </a:rPr>
              <a:t>Объект и параметры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Шаги 1–2: тип объекта и процессы; форма, демо-данные или CSV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FF0053"/>
                </a:solidFill>
              </a:rPr>
              <a:t>Экономика и what-if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Шаги 5–6: три сценария, 8 показателей; допущения и чувствительность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FF0053"/>
                </a:solidFill>
              </a:rPr>
              <a:t>Экспорт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Шаг 8: отчёт PDF, Excel, CSV, PNG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FF0053"/>
                </a:solidFill>
              </a:rPr>
              <a:t>Подбор и сравнение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Шаги 3–4: статусы и причины; характеристики рядом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 b="1" sz="1400">
                <a:solidFill>
                  <a:srgbClr val="FF0053"/>
                </a:solidFill>
              </a:rPr>
              <a:t>Симуляция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Шаг 7: 2D-модель пикового часа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ПОЛЬЗОВАТЕЛЬСКИЙ ПУТЬ: 8 ШАГОВ</a:t>
            </a:r>
            <a:endParaRPr lang="ru-RU"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35457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b="1" sz="1400">
                <a:solidFill>
                  <a:srgbClr val="1C1D22"/>
                </a:solidFill>
              </a:rPr>
              <a:t>Каждый получает свой ответ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sz="1400">
                <a:solidFill>
                  <a:srgbClr val="1C1D22"/>
                </a:solidFill>
              </a:rPr>
              <a:t>Руководители — окупаемость и применимость; логисты и аналитики — число роботов, показатели, формулы и допущения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sz="1400">
                <a:solidFill>
                  <a:srgbClr val="1C1D22"/>
                </a:solidFill>
              </a:rPr>
              <a:t>Интерфейс на русском, для пользователей без навыков программирования (п. 4.5 ТЗ)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Руководители предприятий и подразделений — окупится ли роботизация и за какой срок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Технические директора — применимы ли решения к объекту и его инфраструктуре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Руководители по автоматизации и цифровой трансформации — сравнение альтернатив по единым показателям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Логисты — сколько роботов нужно и справится ли парк с пиком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Аналитики и специалисты по обоснованию — CAPEX, OPEX, ROI, формулы; материалы для ТЭО и пилота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ЦЕЛЕВАЯ АУДИТОРИЯ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Три сценария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Текущее состояние — персонал, точка отсчёта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Покупка — роботы, зарядные станции, ПО и интеграция, пусконаладка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Роботы как услуга — плата за робота в месяц и разовое внедрение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8 показателей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Число роботов, CAPEX, OPEX в год, изменение OPEX, годовой эффект, окупаемость, ROI, ТСО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Формула, исходные данные и источник — по клику и в отчёте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Открытые формулы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Роботов = пик / (произв. × загрузка × готовность) × (1 + резерв)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Эффект = экономия ФОТ − расходы на роботов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Окупаемость = CAPEX / эффект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ROI = эффект × горизонт / CAPEX × 100 %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300">
                <a:solidFill>
                  <a:srgbClr val="1C1D22"/>
                </a:solidFill>
              </a:rPr>
              <a:t>ТСО = CAPEX + OPEX × горизонт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2D1451"/>
                </a:solidFill>
              </a:rPr>
              <a:t>ЭКОНОМИЧЕСКАЯ МОДЕЛЬ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5" y="324562"/>
            <a:ext cx="43164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15 роботов AMR-600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Склад 12 000 м², пик 447 опер./ч; 95 % цели в симуляции; 64 сотрудника, замещается 19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520977"/>
                </a:solidFill>
              </a:rPr>
              <a:t>Покупка: 4,4 года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Умеренная окупаемость; CAPEX 70,05 млн ₽, эффект 16,0 млн ₽/год, ROI за 5 лет 114,3 %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186484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Аренда: 2,1 года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Окупается быстро; CAPEX 1,5 млн ₽, эффект 0,71 млн ₽/год, ROI за 5 лет 236 %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668511626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4316412" cy="376138"/>
          </a:xfrm>
        </p:spPr>
        <p:txBody>
          <a:bodyPr/>
          <a:lstStyle/>
          <a:p>
            <a:pPr>
              <a:defRPr/>
            </a:pPr>
            <a:r>
              <a:t>РЕЗУЛЬТАТЫ: ДЕМО-СКЛАД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t>АРХИТЕКТУРА: МОДУЛЬНЫЙ МОНОЛИТ</a:t>
            </a:r>
            <a:endParaRPr lang="ru-RU" sz="3600">
              <a:solidFill>
                <a:schemeClr val="bg1"/>
              </a:solidFill>
            </a:endParaRPr>
          </a:p>
        </p:txBody>
      </p:sp>
      <p:sp>
        <p:nvSpPr>
          <p:cNvPr id="2041726419" name="Rounded Rectangle 2041726418"/>
          <p:cNvSpPr/>
          <p:nvPr/>
        </p:nvSpPr>
        <p:spPr>
          <a:xfrm>
            <a:off x="594360" y="1554480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2D1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Браузер · Vue 3 SPA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Экраны → Pinia → api/*.ts → api/http.ts</a:t>
            </a:r>
          </a:p>
        </p:txBody>
      </p:sp>
      <p:sp>
        <p:nvSpPr>
          <p:cNvPr id="2041726420" name="Rounded Rectangle 2041726419"/>
          <p:cNvSpPr/>
          <p:nvPr/>
        </p:nvSpPr>
        <p:spPr>
          <a:xfrm>
            <a:off x="594360" y="2240280"/>
            <a:ext cx="3246120" cy="566928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C1D22"/>
                </a:solidFill>
              </a:rPr>
              <a:t>Мок-сервер · mock-1.0</a:t>
            </a:r>
          </a:p>
          <a:p>
            <a:pPr algn="ctr"/>
            <a:r>
              <a:rPr sz="1100" b="0">
                <a:solidFill>
                  <a:srgbClr val="1C1D22"/>
                </a:solidFill>
              </a:rPr>
              <a:t>автономное демо без сервера</a:t>
            </a:r>
          </a:p>
        </p:txBody>
      </p:sp>
      <p:sp>
        <p:nvSpPr>
          <p:cNvPr id="2041726421" name="Rounded Rectangle 2041726420"/>
          <p:cNvSpPr/>
          <p:nvPr/>
        </p:nvSpPr>
        <p:spPr>
          <a:xfrm>
            <a:off x="4023360" y="2240280"/>
            <a:ext cx="3246120" cy="566928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C1D22"/>
                </a:solidFill>
              </a:rPr>
              <a:t>2D-симуляция</a:t>
            </a:r>
          </a:p>
          <a:p>
            <a:pPr algn="ctr"/>
            <a:r>
              <a:rPr sz="1100" b="0">
                <a:solidFill>
                  <a:srgbClr val="1C1D22"/>
                </a:solidFill>
              </a:rPr>
              <a:t>дискретно-событийная, Canvas 2D</a:t>
            </a:r>
          </a:p>
        </p:txBody>
      </p:sp>
      <p:cxnSp>
        <p:nvCxnSpPr>
          <p:cNvPr id="2041726422" name="Connector 2041726421"/>
          <p:cNvCxnSpPr/>
          <p:nvPr/>
        </p:nvCxnSpPr>
        <p:spPr>
          <a:xfrm>
            <a:off x="3931920" y="2852928"/>
            <a:ext cx="0" cy="457200"/>
          </a:xfrm>
          <a:prstGeom prst="line">
            <a:avLst/>
          </a:prstGeom>
          <a:ln w="25400">
            <a:solidFill>
              <a:srgbClr val="FF00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1726423" name="TextBox 2041726422"/>
          <p:cNvSpPr txBox="1"/>
          <p:nvPr/>
        </p:nvSpPr>
        <p:spPr>
          <a:xfrm>
            <a:off x="4069080" y="29443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20977"/>
                </a:solidFill>
              </a:rPr>
              <a:t>/api/v1 · nginx → api</a:t>
            </a:r>
          </a:p>
        </p:txBody>
      </p:sp>
      <p:sp>
        <p:nvSpPr>
          <p:cNvPr id="2041726424" name="Rounded Rectangle 2041726423"/>
          <p:cNvSpPr/>
          <p:nvPr/>
        </p:nvSpPr>
        <p:spPr>
          <a:xfrm>
            <a:off x="594360" y="3383280"/>
            <a:ext cx="2103120" cy="109728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nginx: статика, прокси /api</a:t>
            </a:r>
          </a:p>
        </p:txBody>
      </p:sp>
      <p:sp>
        <p:nvSpPr>
          <p:cNvPr id="2041726425" name="Rounded Rectangle 2041726424"/>
          <p:cNvSpPr/>
          <p:nvPr/>
        </p:nvSpPr>
        <p:spPr>
          <a:xfrm>
            <a:off x="2880360" y="338328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api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Robo.Api: JWT, EF Core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Robo.Core: econ-1.0 + rec-1.0</a:t>
            </a:r>
          </a:p>
        </p:txBody>
      </p:sp>
      <p:sp>
        <p:nvSpPr>
          <p:cNvPr id="2041726426" name="Rounded Rectangle 2041726425"/>
          <p:cNvSpPr/>
          <p:nvPr/>
        </p:nvSpPr>
        <p:spPr>
          <a:xfrm>
            <a:off x="5257800" y="33832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2D1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PostgreSQL 17: миграции, seed, история</a:t>
            </a:r>
          </a:p>
        </p:txBody>
      </p:sp>
      <p:cxnSp>
        <p:nvCxnSpPr>
          <p:cNvPr id="2041726427" name="Connector 2041726426"/>
          <p:cNvCxnSpPr/>
          <p:nvPr/>
        </p:nvCxnSpPr>
        <p:spPr>
          <a:xfrm>
            <a:off x="2697480" y="3931920"/>
            <a:ext cx="182880" cy="0"/>
          </a:xfrm>
          <a:prstGeom prst="line">
            <a:avLst/>
          </a:prstGeom>
          <a:ln w="25400">
            <a:solidFill>
              <a:srgbClr val="FF00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1726428" name="Connector 2041726427"/>
          <p:cNvCxnSpPr/>
          <p:nvPr/>
        </p:nvCxnSpPr>
        <p:spPr>
          <a:xfrm>
            <a:off x="5074920" y="3931920"/>
            <a:ext cx="182880" cy="0"/>
          </a:xfrm>
          <a:prstGeom prst="line">
            <a:avLst/>
          </a:prstGeom>
          <a:ln w="25400">
            <a:solidFill>
              <a:srgbClr val="FF00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1726429" name="TextBox 2041726428"/>
          <p:cNvSpPr txBox="1"/>
          <p:nvPr/>
        </p:nvSpPr>
        <p:spPr>
          <a:xfrm>
            <a:off x="594360" y="466344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C1D22"/>
                </a:solidFill>
              </a:rPr>
              <a:t>Три контейнера Docker Compose: web → api → db. Справочники и нормативы — JSON в backend/config, начальные данные — backend/seed.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C1D22"/>
                </a:solidFill>
              </a:rPr>
              <a:t>Мок-сервер оставлен для автономного демо; его модель совпадает с серверной — это проверяют общие эталонные тесты.</a:t>
            </a:r>
          </a:p>
        </p:txBody>
      </p:sp>
      <p:sp>
        <p:nvSpPr>
          <p:cNvPr id="2041726430" name="TextBox 2041726429"/>
          <p:cNvSpPr txBox="1"/>
          <p:nvPr/>
        </p:nvSpPr>
        <p:spPr>
          <a:xfrm>
            <a:off x="7635240" y="155448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</a:rPr>
              <a:t>Почему модульный монолит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Одна точка развёртывания — хватает для пилотной нагрузки до 50 пользователей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Ядро Robo.Core без зависимостей: функция Calculate тестируется без БД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Расширение данными: типы объектов и нормативы — JSON, формы строятся по описанию полей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</a:rPr>
              <a:t>Стек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Vue 3, TypeScript, Vite, Pinia, Element Plus, Chart.js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.NET 10, ASP.NET Core, EF Core, PostgreSQL 17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Docker Compose; тесты Vitest и xUnit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775559" name="Скругленный прямоугольник 1"/>
          <p:cNvSpPr/>
          <p:nvPr/>
        </p:nvSpPr>
        <p:spPr bwMode="auto">
          <a:xfrm>
            <a:off x="346075" y="324562"/>
            <a:ext cx="350738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6160549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23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318130621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10 роботов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878405022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Каталог: ТТХ, цены, применимость; у каждого источник, дата, «подтверждено». Сейчас демонстрационный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449523253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3 типа · 47 полей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458881947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Склад, аэропорт, больница — JSON-справочник; форма строится по описанию полей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28887783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24 норматива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226906187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norms.json: значение, единица, источник, статус; подтверждены 3, остальное — допущения команды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828808947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C3777"/>
                </a:solidFill>
              </a:rPr>
              <a:t>Версии в расчёте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26994727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данные catalog-2026.09 · модель econ-1.0+rec-1.0 · симуляция sim-1.2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10960853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70958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ИСТОЧНИКИ ДАННЫХ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/>
          <p:cNvSpPr/>
          <p:nvPr/>
        </p:nvSpPr>
        <p:spPr bwMode="auto">
          <a:xfrm>
            <a:off x="346075" y="324562"/>
            <a:ext cx="343566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3 критичные проверки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Грузоподъёмность ≥ массы груза; проход робота ≤ ширины на объекте; для пика нужно ≤ 40 роботов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Рекомендовано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Все критичные проверки пройдены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Требует проверки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По критичной проверке нет данных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C3777"/>
                </a:solidFill>
              </a:rPr>
              <a:t>Не подходит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Есть проваленная критичная проверка; в сравнение — только вручную, с предупреждением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779449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АЛГОРИТМ ПОДБОРА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5" y="324562"/>
            <a:ext cx="489416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3 параметра, ±10 и ±20 %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Стоимость оборудования, объём операций, стоимость труда — для покупки и аренды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520977"/>
                </a:solidFill>
              </a:rPr>
              <a:t>Самый влиятельный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Экран называет его сам; на демо-складе — стоимость труда (график: окупаемость покупки, лет)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186484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What-if: 9 допущений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Ставка, смены, дни, загрузка, горизонт, производительность, цена, обслуживание; пересчёт рядом с исходным, правки — «изменено вручную»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668511626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4894163" cy="376138"/>
          </a:xfrm>
        </p:spPr>
        <p:txBody>
          <a:bodyPr/>
          <a:lstStyle/>
          <a:p>
            <a:pPr>
              <a:defRPr/>
            </a:pPr>
            <a:r>
              <a:t>ЧУВСТВИТЕЛЬНОСТЬ И WHAT-IF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/>
          <p:cNvSpPr/>
          <p:nvPr/>
        </p:nvSpPr>
        <p:spPr bwMode="auto">
          <a:xfrm>
            <a:off x="346075" y="324562"/>
            <a:ext cx="536819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Из расчёта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Число роботов, пиковая потребность, производительность из каталога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Модель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1 час, случайный поток заявок, маршруты между зонами склада, зарядка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KPI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Выполнено, загрузка, простои, очередь, узкое место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C3777"/>
                </a:solidFill>
              </a:rPr>
              <a:t>Вердикт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Подтверждён при ≥ 90 % цели: 15 роботов — 95 %; 8 роботов — 80,8 % и предложение «Пересчитать с N+1 роботом»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779449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2D-ИМИТАЦИЯ ПРОВЕРЯЕТ РАСЧЁТ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775559" name="Скругленный прямоугольник 1"/>
          <p:cNvSpPr/>
          <p:nvPr/>
        </p:nvSpPr>
        <p:spPr bwMode="auto">
          <a:xfrm>
            <a:off x="346075" y="324562"/>
            <a:ext cx="429853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6160549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23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318130621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23 — полностью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878405022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Роли и изоляция, история в БД, подбор на сервере, управление каталогом, СУБД и контейнеры, документация API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449523253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17 — частично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458881947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Проекты без сценариев, CSV, ТСО без амортизации, PDF печатью, 2D только склад, нет HTTPS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28887783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t>1 — прототип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226906187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Обновление каталога по запросу (3.3.6)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828808947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C3777"/>
                </a:solidFill>
              </a:rPr>
              <a:t>3 — не реализовано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26994727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Таблица организатора (3.3.2), открытые источники (3.3.3), API импорта (3.8.2)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10960853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70958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СТАТУС ФУНКЦИЙ · П. 5.7 ТЗ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2D1451"/>
                </a:solidFill>
              </a:rPr>
              <a:t>УНИКАЛЬНОСТЬ РЕШЕНИЯ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247120" cy="712587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500">
                <a:solidFill>
                  <a:srgbClr val="1C1D22"/>
                </a:solidFill>
              </a:rPr>
              <a:t>Прозрачный расчёт: у каждого из 8 показателей — формула, исходные данные и источник; допущения со статусом «подтверждено / допущение»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247120" cy="712587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500">
                <a:solidFill>
                  <a:srgbClr val="1C1D22"/>
                </a:solidFill>
              </a:rPr>
              <a:t>Объяснимый подбор: проверки «требуется / фактически», статусы и вклад каждого из 5 факторов балла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247120" cy="712587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500">
                <a:solidFill>
                  <a:srgbClr val="1C1D22"/>
                </a:solidFill>
              </a:rPr>
              <a:t>Расчёт проверяется 2D-моделью пикового часа: справится ли расчётный парк с потоком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247120" cy="712587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500">
                <a:solidFill>
                  <a:srgbClr val="1C1D22"/>
                </a:solidFill>
              </a:rPr>
              <a:t>Воспроизводимость: каждый расчёт хранит запрос, версии модели и данных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247120" cy="712587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500">
                <a:solidFill>
                  <a:srgbClr val="1C1D22"/>
                </a:solidFill>
              </a:rPr>
              <a:t>Работает и без сервера: автономное демо с той же моделью; совпадение проверяют эталонные тесты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Каталог условный: данных организатора нет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Импорта каталога и API импорта нет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PDF — печатью из браузера, серверного PDF нет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Сценарии и роботы не хранятся в самом проекте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HTTPS не настроен; демо-учётки с известными паролями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Коэффициенты модели — допущения команды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Нет амортизации; ТСО без замены компонентов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Симуляция: только склад, без заторов, один прогон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Новые поля аэропорта и больницы не влияют на подбор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Допущения What-if не сохраняются в проект</a:t>
            </a: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ОГРАНИЧЕНИЯ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Состояние продукта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Данные и модель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Данные организатора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Импорт каталога CSV/XLSX и API импорта, демо-наборы, реальные источники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Экономика по ТЗ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Замена компонентов в ТСО, амортизация, заёмное финансирование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Подбор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Правила по безопасности, зонам, санобработке; связь робота с процессом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Симуляция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Планы аэропорта и больницы, заторы, серия прогонов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Выгрузки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Серверный PDF (Excel уже формирует сервер)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2D1451"/>
                </a:solidFill>
              </a:rPr>
              <a:t>Интеграции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 marL="0" indent="0">
              <a:defRPr/>
              <a:buNone/>
            </a:pPr>
            <a:r>
              <a:rPr sz="1200">
                <a:solidFill>
                  <a:srgbClr val="1C1D22"/>
                </a:solidFill>
              </a:rPr>
              <a:t>Объёмы из WMS, ставки и цены из ERP и 1С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ПЛАН РАЗВИТИЯ</a:t>
            </a:r>
            <a:endParaRPr lang="ru-RU"/>
          </a:p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 marL="0" indent="0">
              <a:defRPr/>
              <a:buNone/>
            </a:pPr>
            <a:r>
              <a:rPr>
                <a:solidFill>
                  <a:srgbClr val="FF0053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